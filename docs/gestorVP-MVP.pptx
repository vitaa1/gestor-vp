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7267fa85ed4070" /><Relationship Type="http://schemas.openxmlformats.org/officeDocument/2006/relationships/extended-properties" Target="/docProps/app.xml" Id="R0edff9d176ad4a48" /><Relationship Type="http://schemas.openxmlformats.org/officeDocument/2006/relationships/officeDocument" Target="/ppt/presentation.xml" Id="R921e4d64faec42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8d2972d034b58"/>
  </p:sldMasterIdLst>
  <p:notesMasterIdLst>
    <p:notesMasterId xmlns:r="http://schemas.openxmlformats.org/officeDocument/2006/relationships" r:id="R8518ac535b244636"/>
  </p:notesMasterIdLst>
  <p:sldIdLst>
    <p:sldId xmlns:r="http://schemas.openxmlformats.org/officeDocument/2006/relationships" id="256" r:id="R65b452d6f2e94383"/>
    <p:sldId xmlns:r="http://schemas.openxmlformats.org/officeDocument/2006/relationships" id="257" r:id="Ra13f52fea1db448c"/>
    <p:sldId xmlns:r="http://schemas.openxmlformats.org/officeDocument/2006/relationships" id="258" r:id="Rcf44aadff9af44e0"/>
    <p:sldId xmlns:r="http://schemas.openxmlformats.org/officeDocument/2006/relationships" id="259" r:id="R487015bc14ac4d72"/>
    <p:sldId xmlns:r="http://schemas.openxmlformats.org/officeDocument/2006/relationships" id="260" r:id="R34d42bbcd28c4f81"/>
    <p:sldId xmlns:r="http://schemas.openxmlformats.org/officeDocument/2006/relationships" id="261" r:id="R3e5ceb0effaa40f3"/>
    <p:sldId xmlns:r="http://schemas.openxmlformats.org/officeDocument/2006/relationships" id="262" r:id="R88eb45c0ad104184"/>
    <p:sldId xmlns:r="http://schemas.openxmlformats.org/officeDocument/2006/relationships" id="263" r:id="Rd60a4abfeb4741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9ca3a3b58f443a" /><Relationship Type="http://schemas.openxmlformats.org/officeDocument/2006/relationships/slideMaster" Target="/ppt/slideMasters/slideMaster1.xml" Id="R8ea8d2972d034b58" /><Relationship Type="http://schemas.openxmlformats.org/officeDocument/2006/relationships/notesMaster" Target="/ppt/notesMasters/notesMaster1.xml" Id="R8518ac535b244636" /><Relationship Type="http://schemas.openxmlformats.org/officeDocument/2006/relationships/presProps" Target="/ppt/presProps.xml" Id="R482a65a79b024e2a" /><Relationship Type="http://schemas.openxmlformats.org/officeDocument/2006/relationships/tableStyles" Target="/ppt/tableStyles.xml" Id="Rde863fad7afb4255" /><Relationship Type="http://schemas.openxmlformats.org/officeDocument/2006/relationships/slide" Target="/ppt/slides/slide1.xml" Id="R65b452d6f2e94383" /><Relationship Type="http://schemas.openxmlformats.org/officeDocument/2006/relationships/slide" Target="/ppt/slides/slide2.xml" Id="Ra13f52fea1db448c" /><Relationship Type="http://schemas.openxmlformats.org/officeDocument/2006/relationships/slide" Target="/ppt/slides/slide3.xml" Id="Rcf44aadff9af44e0" /><Relationship Type="http://schemas.openxmlformats.org/officeDocument/2006/relationships/slide" Target="/ppt/slides/slide4.xml" Id="R487015bc14ac4d72" /><Relationship Type="http://schemas.openxmlformats.org/officeDocument/2006/relationships/slide" Target="/ppt/slides/slide5.xml" Id="R34d42bbcd28c4f81" /><Relationship Type="http://schemas.openxmlformats.org/officeDocument/2006/relationships/slide" Target="/ppt/slides/slide6.xml" Id="R3e5ceb0effaa40f3" /><Relationship Type="http://schemas.openxmlformats.org/officeDocument/2006/relationships/slide" Target="/ppt/slides/slide7.xml" Id="R88eb45c0ad104184" /><Relationship Type="http://schemas.openxmlformats.org/officeDocument/2006/relationships/slide" Target="/ppt/slides/slide8.xml" Id="Rd60a4abfeb4741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3806661f843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7627d527b445b0" /><Relationship Type="http://schemas.openxmlformats.org/officeDocument/2006/relationships/notesMaster" Target="/ppt/notesMasters/notesMaster1.xml" Id="Rc0cf1a21863d46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7619ecc0f8454b" /><Relationship Type="http://schemas.openxmlformats.org/officeDocument/2006/relationships/notesMaster" Target="/ppt/notesMasters/notesMaster1.xml" Id="R4bda6b67f75e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e3c5bd1334c79" /><Relationship Type="http://schemas.openxmlformats.org/officeDocument/2006/relationships/notesMaster" Target="/ppt/notesMasters/notesMaster1.xml" Id="R8e3c543241b2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1bba8340334c0d" /><Relationship Type="http://schemas.openxmlformats.org/officeDocument/2006/relationships/notesMaster" Target="/ppt/notesMasters/notesMaster1.xml" Id="Re900ea091e1141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461f873ad7464b" /><Relationship Type="http://schemas.openxmlformats.org/officeDocument/2006/relationships/notesMaster" Target="/ppt/notesMasters/notesMaster1.xml" Id="R49f6f526833f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0ae1ac220d4cc1" /><Relationship Type="http://schemas.openxmlformats.org/officeDocument/2006/relationships/notesMaster" Target="/ppt/notesMasters/notesMaster1.xml" Id="Rb81d05c77bf04f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eb4f1becc847a3" /><Relationship Type="http://schemas.openxmlformats.org/officeDocument/2006/relationships/notesMaster" Target="/ppt/notesMasters/notesMaster1.xml" Id="R81eaff8e86ce42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0908a36ee04997" /><Relationship Type="http://schemas.openxmlformats.org/officeDocument/2006/relationships/notesMaster" Target="/ppt/notesMasters/notesMaster1.xml" Id="R090e5f5cd4d8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gestorVP como um produto focado na rotina de pequenos estabelecimentos.</a:t>
            </a:r>
          </a:p>
          <a:p xmlns:a="http://schemas.openxmlformats.org/drawingml/2006/main">
            <a:r>
              <a:t>A imagem mostra a experiência mobile-first com dados sintéticos.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C:\gestor-vp\docs\produto.md</a:t>
            </a:r>
          </a:p>
          <a:p xmlns:a="http://schemas.openxmlformats.org/drawingml/2006/main">
            <a:r>
              <a:t>- C:\gestor-vp\docs\roadmap-mvp.md</a:t>
            </a:r>
          </a:p>
          <a:p xmlns:a="http://schemas.openxmlformats.org/drawingml/2006/main">
            <a:r>
              <a:t>- C:\gestor-vp\README.md</a:t>
            </a:r>
          </a:p>
          <a:p xmlns:a="http://schemas.openxmlformats.org/drawingml/2006/main">
            <a:r>
              <a:t>- Capturas sintéticas em C:\gestor-vp\docs\images\mvp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o problema operacional às decisões de simplicidade do produto.</a:t>
            </a:r>
          </a:p>
          <a:p xmlns:a="http://schemas.openxmlformats.org/drawingml/2006/main">
            <a:r>
              <a:t>Não há promessa financeira: o ganho apresentado é de visibilidade e rastreabilidade.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C:\gestor-vp\docs\produto.md</a:t>
            </a:r>
          </a:p>
          <a:p xmlns:a="http://schemas.openxmlformats.org/drawingml/2006/main">
            <a:r>
              <a:t>- C:\gestor-vp\docs\roadmap-mvp.md</a:t>
            </a:r>
          </a:p>
          <a:p xmlns:a="http://schemas.openxmlformats.org/drawingml/2006/main">
            <a:r>
              <a:t>- C:\gestor-vp\README.md</a:t>
            </a:r>
          </a:p>
          <a:p xmlns:a="http://schemas.openxmlformats.org/drawingml/2006/main">
            <a:r>
              <a:t>- Capturas sintéticas em C:\gestor-vp\docs\images\mvp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o cadastro essencial e a fila de prioridades convivem na mesma página.</a:t>
            </a:r>
          </a:p>
          <a:p xmlns:a="http://schemas.openxmlformats.org/drawingml/2006/main">
            <a:r>
              <a:t>A captura usa quatro entradas sintéticas representando todas as situações de validade.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C:\gestor-vp\docs\produto.md</a:t>
            </a:r>
          </a:p>
          <a:p xmlns:a="http://schemas.openxmlformats.org/drawingml/2006/main">
            <a:r>
              <a:t>- C:\gestor-vp\docs\roadmap-mvp.md</a:t>
            </a:r>
          </a:p>
          <a:p xmlns:a="http://schemas.openxmlformats.org/drawingml/2006/main">
            <a:r>
              <a:t>- C:\gestor-vp\README.md</a:t>
            </a:r>
          </a:p>
          <a:p xmlns:a="http://schemas.openxmlformats.org/drawingml/2006/main">
            <a:r>
              <a:t>- Capturas sintéticas em C:\gestor-vp\docs\images\mvp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sequência para demonstrar o fluxo sem trocar de linguagem ou introduzir jargão técnico.</a:t>
            </a:r>
          </a:p>
          <a:p xmlns:a="http://schemas.openxmlformats.org/drawingml/2006/main">
            <a:r>
              <a:t>Os critérios correspondentes estão cobertos pelas histórias HU02, HU04 e HU05.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C:\gestor-vp\docs\produto.md</a:t>
            </a:r>
          </a:p>
          <a:p xmlns:a="http://schemas.openxmlformats.org/drawingml/2006/main">
            <a:r>
              <a:t>- C:\gestor-vp\docs\roadmap-mvp.md</a:t>
            </a:r>
          </a:p>
          <a:p xmlns:a="http://schemas.openxmlformats.org/drawingml/2006/main">
            <a:r>
              <a:t>- C:\gestor-vp\README.md</a:t>
            </a:r>
          </a:p>
          <a:p xmlns:a="http://schemas.openxmlformats.org/drawingml/2006/main">
            <a:r>
              <a:t>- Capturas sintéticas em C:\gestor-vp\docs\images\mvp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retirada parte da entrada selecionada e exige revisão antes de persistir.</a:t>
            </a:r>
          </a:p>
          <a:p xmlns:a="http://schemas.openxmlformats.org/drawingml/2006/main">
            <a:r>
              <a:t>Entradas vencidas restringem motivos a Perda e Vencimento.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C:\gestor-vp\docs\produto.md</a:t>
            </a:r>
          </a:p>
          <a:p xmlns:a="http://schemas.openxmlformats.org/drawingml/2006/main">
            <a:r>
              <a:t>- C:\gestor-vp\docs\roadmap-mvp.md</a:t>
            </a:r>
          </a:p>
          <a:p xmlns:a="http://schemas.openxmlformats.org/drawingml/2006/main">
            <a:r>
              <a:t>- C:\gestor-vp\README.md</a:t>
            </a:r>
          </a:p>
          <a:p xmlns:a="http://schemas.openxmlformats.org/drawingml/2006/main">
            <a:r>
              <a:t>- Capturas sintéticas em C:\gestor-vp\docs\images\mvp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números refletem a validação executada em 25/08/2026 nesta branch.</a:t>
            </a:r>
          </a:p>
          <a:p xmlns:a="http://schemas.openxmlformats.org/drawingml/2006/main">
            <a:r>
              <a:t>A cobertura E2E adicional roda uma única vez no desktop por compartilhar banco; o fluxo integrado roda nos três viewports.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C:\gestor-vp\docs\produto.md</a:t>
            </a:r>
          </a:p>
          <a:p xmlns:a="http://schemas.openxmlformats.org/drawingml/2006/main">
            <a:r>
              <a:t>- C:\gestor-vp\docs\roadmap-mvp.md</a:t>
            </a:r>
          </a:p>
          <a:p xmlns:a="http://schemas.openxmlformats.org/drawingml/2006/main">
            <a:r>
              <a:t>- C:\gestor-vp\README.md</a:t>
            </a:r>
          </a:p>
          <a:p xmlns:a="http://schemas.openxmlformats.org/drawingml/2006/main">
            <a:r>
              <a:t>- Capturas sintéticas em C:\gestor-vp\docs\images\mvp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modo Serverless e a restauração diária antes de demonstrar o ambiente.</a:t>
            </a:r>
          </a:p>
          <a:p xmlns:a="http://schemas.openxmlformats.org/drawingml/2006/main">
            <a:r>
              <a:t>A atividade do Railway registrou o deployment dormindo e retomando; os logs mostram 10,859 s de startup.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C:\gestor-vp\docs\produto.md</a:t>
            </a:r>
          </a:p>
          <a:p xmlns:a="http://schemas.openxmlformats.org/drawingml/2006/main">
            <a:r>
              <a:t>- C:\gestor-vp\docs\roadmap-mvp.md</a:t>
            </a:r>
          </a:p>
          <a:p xmlns:a="http://schemas.openxmlformats.org/drawingml/2006/main">
            <a:r>
              <a:t>- C:\gestor-vp\README.md</a:t>
            </a:r>
          </a:p>
          <a:p xmlns:a="http://schemas.openxmlformats.org/drawingml/2006/main">
            <a:r>
              <a:t>- Capturas sintéticas em C:\gestor-vp\docs\images\mvp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Encerre retomando a promessa central e convidando a conhecer o código e a página pública.</a:t>
            </a:r>
          </a:p>
          <a:p xmlns:a="http://schemas.openxmlformats.org/drawingml/2006/main">
            <a:r>
              <a:t>Não compartilhe credenciais durante a apresentação sem autorização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C:\gestor-vp\docs\produto.md</a:t>
            </a:r>
          </a:p>
          <a:p xmlns:a="http://schemas.openxmlformats.org/drawingml/2006/main">
            <a:r>
              <a:t>- C:\gestor-vp\docs\roadmap-mvp.md</a:t>
            </a:r>
          </a:p>
          <a:p xmlns:a="http://schemas.openxmlformats.org/drawingml/2006/main">
            <a:r>
              <a:t>- C:\gestor-vp\README.md</a:t>
            </a:r>
          </a:p>
          <a:p xmlns:a="http://schemas.openxmlformats.org/drawingml/2006/main">
            <a:r>
              <a:t>- Capturas sintéticas em C:\gestor-vp\docs\images\mvp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f57339e424f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11bb6f8cb94e3a" /><Relationship Type="http://schemas.openxmlformats.org/officeDocument/2006/relationships/slideLayout" Target="/ppt/slideLayouts/slideLayout1.xml" Id="R887b329b803e40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7b329b803e40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4cf9bfbcb462b" /><Relationship Type="http://schemas.openxmlformats.org/officeDocument/2006/relationships/image" Target="/ppt/media/image.jpeg" Id="Rac800de06698404e" /><Relationship Type="http://schemas.openxmlformats.org/officeDocument/2006/relationships/notesSlide" Target="/ppt/notesSlides/notesSlide1.xml" Id="R3c9a6f6d9fa9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2a02c24a74a80" /><Relationship Type="http://schemas.openxmlformats.org/officeDocument/2006/relationships/notesSlide" Target="/ppt/notesSlides/notesSlide2.xml" Id="R327db495b1154a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56019a2824361" /><Relationship Type="http://schemas.openxmlformats.org/officeDocument/2006/relationships/image" Target="/ppt/media/image2.jpeg" Id="R234e337fe850407f" /><Relationship Type="http://schemas.openxmlformats.org/officeDocument/2006/relationships/notesSlide" Target="/ppt/notesSlides/notesSlide3.xml" Id="R77b3b5d751fa41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ffac2db1e41bc" /><Relationship Type="http://schemas.openxmlformats.org/officeDocument/2006/relationships/notesSlide" Target="/ppt/notesSlides/notesSlide4.xml" Id="Rc442ed199b5545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c1653831e4236" /><Relationship Type="http://schemas.openxmlformats.org/officeDocument/2006/relationships/image" Target="/ppt/media/image3.jpeg" Id="R0af5c00652174c1f" /><Relationship Type="http://schemas.openxmlformats.org/officeDocument/2006/relationships/image" Target="/ppt/media/image4.jpeg" Id="Rb0aa52591ce84e09" /><Relationship Type="http://schemas.openxmlformats.org/officeDocument/2006/relationships/notesSlide" Target="/ppt/notesSlides/notesSlide5.xml" Id="R885b5bdf9f9748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42ed5caa941e0" /><Relationship Type="http://schemas.openxmlformats.org/officeDocument/2006/relationships/notesSlide" Target="/ppt/notesSlides/notesSlide6.xml" Id="R0793042c6f1f4c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cb683a5cd4c84" /><Relationship Type="http://schemas.openxmlformats.org/officeDocument/2006/relationships/image" Target="/ppt/media/image5.jpeg" Id="Ra187fe5a1e37443f" /><Relationship Type="http://schemas.openxmlformats.org/officeDocument/2006/relationships/notesSlide" Target="/ppt/notesSlides/notesSlide7.xml" Id="R1de9622162f642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8f712149e4404" /><Relationship Type="http://schemas.openxmlformats.org/officeDocument/2006/relationships/notesSlide" Target="/ppt/notesSlides/notesSlide8.xml" Id="Re3cc684bc8a241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gestorVP · MVP">
            <a:extLst xmlns:a="http://schemas.openxmlformats.org/drawingml/2006/main">
              <a:ext uri="{FF2B5EF4-FFF2-40B4-BE49-F238E27FC236}">
                <a16:creationId xmlns:a16="http://schemas.microsoft.com/office/drawing/2014/main" id="{CA613B1A-E18D-4E76-A189-DCA38AF4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GESTORVP · MVP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62DD32C-4B2E-4F71-BB39-A6CDB4E8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Controle de validade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sem complicação.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3A1DEEF-86F3-4D23-9511-E0BC3D82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O que vence primeiro aparece primeiro — no celular e sem planilhas.</a:t>
            </a:r>
          </a:p>
        </p:txBody>
      </p:sp>
      <p:sp>
        <p:nvSpPr>
          <p:cNvPr id="4" name="cover-url">
            <a:extLst xmlns:a="http://schemas.openxmlformats.org/drawingml/2006/main">
              <a:ext uri="{FF2B5EF4-FFF2-40B4-BE49-F238E27FC236}">
                <a16:creationId xmlns:a16="http://schemas.microsoft.com/office/drawing/2014/main" id="{1E1BC1F8-F45C-4AEF-91A6-89BC8740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gestor-vp-production.up.railway.app</a:t>
            </a:r>
          </a:p>
        </p:txBody>
      </p:sp>
      <p:sp>
        <p:nvSpPr>
          <p:cNvPr id="5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9FB472E0-DC6E-471F-BE68-B13F005C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3810000" cy="61341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00de06698404e"/>
          <a:srcRect xmlns:a="http://schemas.openxmlformats.org/drawingml/2006/main" l="0" t="34758" r="0" b="347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552450"/>
            <a:ext cx="3429000" cy="57531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</p:spTree>
    <p:extLst>
      <p:ext uri="{BB962C8B-B14F-4D97-AF65-F5344CB8AC3E}">
        <p14:creationId xmlns:p14="http://schemas.microsoft.com/office/powerpoint/2010/main" val="1636255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O problema">
            <a:extLst xmlns:a="http://schemas.openxmlformats.org/drawingml/2006/main">
              <a:ext uri="{FF2B5EF4-FFF2-40B4-BE49-F238E27FC236}">
                <a16:creationId xmlns:a16="http://schemas.microsoft.com/office/drawing/2014/main" id="{FF6B3E85-43D7-4952-A031-588A8E3D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32F4F072-7177-4E90-B947-A87E4E3D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Validade controlada no improviso custa tempo e produto.</a:t>
            </a:r>
          </a:p>
        </p:txBody>
      </p:sp>
      <p:sp>
        <p:nvSpPr>
          <p:cNvPr id="3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6FD3E23B-2FE5-40BB-AEA0-B803A37C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48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4" name="problem-left-title">
            <a:extLst xmlns:a="http://schemas.openxmlformats.org/drawingml/2006/main">
              <a:ext uri="{FF2B5EF4-FFF2-40B4-BE49-F238E27FC236}">
                <a16:creationId xmlns:a16="http://schemas.microsoft.com/office/drawing/2014/main" id="{92536062-2B65-4339-A8B3-EA87C8C4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5" name="problem-left-copy">
            <a:extLst xmlns:a="http://schemas.openxmlformats.org/drawingml/2006/main">
              <a:ext uri="{FF2B5EF4-FFF2-40B4-BE49-F238E27FC236}">
                <a16:creationId xmlns:a16="http://schemas.microsoft.com/office/drawing/2014/main" id="{C7619268-0745-4DCC-BC65-31406379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Inspeção visual, cadernos e planilhas dispersas tornam fácil esquecer o que vence primeiro e difícil explicar o que saiu do estoque.</a:t>
            </a:r>
          </a:p>
        </p:txBody>
      </p:sp>
      <p:sp>
        <p:nvSpPr>
          <p:cNvPr id="6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A6438911-8622-4BD8-A762-1D0678A4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5048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9525">
            <a:solidFill>
              <a:srgbClr val="173B63"/>
            </a:solidFill>
            <a:prstDash val="solid"/>
          </a:ln>
        </p:spPr>
      </p:sp>
      <p:sp>
        <p:nvSpPr>
          <p:cNvPr id="7" name="problem-right-title">
            <a:extLst xmlns:a="http://schemas.openxmlformats.org/drawingml/2006/main">
              <a:ext uri="{FF2B5EF4-FFF2-40B4-BE49-F238E27FC236}">
                <a16:creationId xmlns:a16="http://schemas.microsoft.com/office/drawing/2014/main" id="{C72E1A60-15B4-4038-9BD3-DD2DF5ED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o gestorVP</a:t>
            </a:r>
          </a:p>
        </p:txBody>
      </p:sp>
      <p:sp>
        <p:nvSpPr>
          <p:cNvPr id="8" name="problem-right-copy">
            <a:extLst xmlns:a="http://schemas.openxmlformats.org/drawingml/2006/main">
              <a:ext uri="{FF2B5EF4-FFF2-40B4-BE49-F238E27FC236}">
                <a16:creationId xmlns:a16="http://schemas.microsoft.com/office/drawing/2014/main" id="{E017650A-D8BE-4935-A6F0-5E18659B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prioridade aparece automaticamente. Cadastro, busca, retirada e histórico usam linguagem direta e preservam cada movimento.</a:t>
            </a:r>
          </a:p>
        </p:txBody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64369F8F-0B2E-418D-8B39-7970674B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0725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A experiência">
            <a:extLst xmlns:a="http://schemas.openxmlformats.org/drawingml/2006/main">
              <a:ext uri="{FF2B5EF4-FFF2-40B4-BE49-F238E27FC236}">
                <a16:creationId xmlns:a16="http://schemas.microsoft.com/office/drawing/2014/main" id="{04A65579-6B03-4372-A84D-9656F53B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A EXPERIÊNCIA</a:t>
            </a:r>
          </a:p>
        </p:txBody>
      </p:sp>
      <p:sp>
        <p:nvSpPr>
          <p:cNvPr id="2" name="home-title">
            <a:extLst xmlns:a="http://schemas.openxmlformats.org/drawingml/2006/main">
              <a:ext uri="{FF2B5EF4-FFF2-40B4-BE49-F238E27FC236}">
                <a16:creationId xmlns:a16="http://schemas.microsoft.com/office/drawing/2014/main" id="{B0BA49F7-17E4-498B-BF98-D69B31AB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682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Uma tela responde o que precisa de atenção.</a:t>
            </a:r>
          </a:p>
        </p:txBody>
      </p:sp>
      <p:sp>
        <p:nvSpPr>
          <p:cNvPr id="3" name="home-copy">
            <a:extLst xmlns:a="http://schemas.openxmlformats.org/drawingml/2006/main">
              <a:ext uri="{FF2B5EF4-FFF2-40B4-BE49-F238E27FC236}">
                <a16:creationId xmlns:a16="http://schemas.microsoft.com/office/drawing/2014/main" id="{E7D4BCCD-2484-49CD-BB7F-5246102D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Até cinco entradas, ordenadas por validade, com situação textual e acesso direto aos detalhes.</a:t>
            </a:r>
          </a:p>
        </p:txBody>
      </p:sp>
      <p:sp>
        <p:nvSpPr>
          <p:cNvPr id="4" name="home-image-backing">
            <a:extLst xmlns:a="http://schemas.openxmlformats.org/drawingml/2006/main">
              <a:ext uri="{FF2B5EF4-FFF2-40B4-BE49-F238E27FC236}">
                <a16:creationId xmlns:a16="http://schemas.microsoft.com/office/drawing/2014/main" id="{253C4FC8-91D3-4805-8F7D-BE19C591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e337fe850407f"/>
          <a:srcRect xmlns:a="http://schemas.openxmlformats.org/drawingml/2006/main" l="0" t="20546" r="0" b="205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457450"/>
            <a:ext cx="10744200" cy="3562350"/>
          </a:xfrm>
          <a:prstGeom xmlns:a="http://schemas.openxmlformats.org/drawingml/2006/main" prst="roundRect">
            <a:avLst>
              <a:gd name="adj" fmla="val 3209"/>
            </a:avLst>
          </a:prstGeom>
        </p:spPr>
      </p:pic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44771AB4-5A42-45F4-9C58-00297ADE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0155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O fluxo principal">
            <a:extLst xmlns:a="http://schemas.openxmlformats.org/drawingml/2006/main">
              <a:ext uri="{FF2B5EF4-FFF2-40B4-BE49-F238E27FC236}">
                <a16:creationId xmlns:a16="http://schemas.microsoft.com/office/drawing/2014/main" id="{02DC9531-F97F-4B8F-835D-36730DD9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O FLUXO PRINCIPAL</a:t>
            </a:r>
          </a:p>
        </p:txBody>
      </p:sp>
      <p:sp>
        <p:nvSpPr>
          <p:cNvPr id="2" name="flow-title">
            <a:extLst xmlns:a="http://schemas.openxmlformats.org/drawingml/2006/main">
              <a:ext uri="{FF2B5EF4-FFF2-40B4-BE49-F238E27FC236}">
                <a16:creationId xmlns:a16="http://schemas.microsoft.com/office/drawing/2014/main" id="{ED9F94C0-9681-429B-8ABF-88B1EB65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97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Do cadastro ao histórico em três movimentos.</a:t>
            </a:r>
          </a:p>
        </p:txBody>
      </p:sp>
      <p:sp>
        <p:nvSpPr>
          <p:cNvPr id="3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24C13E8-E9FE-4D05-83DC-6810A1C9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4" name="step-dot-0">
            <a:extLst xmlns:a="http://schemas.openxmlformats.org/drawingml/2006/main">
              <a:ext uri="{FF2B5EF4-FFF2-40B4-BE49-F238E27FC236}">
                <a16:creationId xmlns:a16="http://schemas.microsoft.com/office/drawing/2014/main" id="{12D6950C-6FAF-4258-A69E-20771DA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9525">
            <a:solidFill>
              <a:srgbClr val="173B63"/>
            </a:solidFill>
            <a:prstDash val="solid"/>
          </a:ln>
        </p:spPr>
      </p:sp>
      <p:sp>
        <p:nvSpPr>
          <p:cNvPr id="5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F9EF1C8D-210C-4564-AF05-821BF2C6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1. Cadastre</a:t>
            </a:r>
          </a:p>
        </p:txBody>
      </p:sp>
      <p:sp>
        <p:nvSpPr>
          <p:cNvPr id="6" name="step-body-0">
            <a:extLst xmlns:a="http://schemas.openxmlformats.org/drawingml/2006/main">
              <a:ext uri="{FF2B5EF4-FFF2-40B4-BE49-F238E27FC236}">
                <a16:creationId xmlns:a16="http://schemas.microsoft.com/office/drawing/2014/main" id="{B7E71F5D-7407-4DF9-B131-9BA4D730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Nome, quantidade e validade bastam. Detalhes adicionais permanecem opcionais.</a:t>
            </a:r>
          </a:p>
        </p:txBody>
      </p:sp>
      <p:sp>
        <p:nvSpPr>
          <p:cNvPr id="7" name="step-dot-1">
            <a:extLst xmlns:a="http://schemas.openxmlformats.org/drawingml/2006/main">
              <a:ext uri="{FF2B5EF4-FFF2-40B4-BE49-F238E27FC236}">
                <a16:creationId xmlns:a16="http://schemas.microsoft.com/office/drawing/2014/main" id="{84560DBD-12B4-4084-8E3A-A1907F91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3D08"/>
          </a:solidFill>
          <a:ln xmlns:a="http://schemas.openxmlformats.org/drawingml/2006/main" w="9525">
            <a:solidFill>
              <a:srgbClr val="A43D08"/>
            </a:solidFill>
            <a:prstDash val="solid"/>
          </a:ln>
        </p:spPr>
      </p:sp>
      <p:sp>
        <p:nvSpPr>
          <p:cNvPr id="8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7EC686F7-04C4-49F4-8ECD-2D770B4B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38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2. Priorize e retire</a:t>
            </a:r>
          </a:p>
        </p:txBody>
      </p:sp>
      <p:sp>
        <p:nvSpPr>
          <p:cNvPr id="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275E3CA-AFCA-46F5-BFCA-7654A93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053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 urgência é calculada automaticamente; retiradas exigem revisão e motivo.</a:t>
            </a:r>
          </a:p>
        </p:txBody>
      </p:sp>
      <p:sp>
        <p:nvSpPr>
          <p:cNvPr id="10" name="step-dot-2">
            <a:extLst xmlns:a="http://schemas.openxmlformats.org/drawingml/2006/main">
              <a:ext uri="{FF2B5EF4-FFF2-40B4-BE49-F238E27FC236}">
                <a16:creationId xmlns:a16="http://schemas.microsoft.com/office/drawing/2014/main" id="{1CDE719E-CAF6-414B-BAF8-D6BC5CEE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9525">
            <a:solidFill>
              <a:srgbClr val="173B63"/>
            </a:solidFill>
            <a:prstDash val="solid"/>
          </a:ln>
        </p:spPr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A48C3082-6B2C-477B-9B4B-DBDA4105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3. Consulte o histórico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79450D16-2009-4BAF-8281-FA3B4818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Entradas e retiradas ficam ordenadas das mais recentes para as mais antigas.</a:t>
            </a:r>
          </a:p>
        </p:txBody>
      </p:sp>
      <p:sp>
        <p:nvSpPr>
          <p:cNvPr id="13" name="footer-4">
            <a:extLst xmlns:a="http://schemas.openxmlformats.org/drawingml/2006/main">
              <a:ext uri="{FF2B5EF4-FFF2-40B4-BE49-F238E27FC236}">
                <a16:creationId xmlns:a16="http://schemas.microsoft.com/office/drawing/2014/main" id="{E0C769C1-EEAE-4E0D-B50E-B3DCAD9F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4747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Busca e ação">
            <a:extLst xmlns:a="http://schemas.openxmlformats.org/drawingml/2006/main">
              <a:ext uri="{FF2B5EF4-FFF2-40B4-BE49-F238E27FC236}">
                <a16:creationId xmlns:a16="http://schemas.microsoft.com/office/drawing/2014/main" id="{AB3DC2C4-8AD3-4481-B336-17E3CC28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BUSCA E AÇÃO</a:t>
            </a:r>
          </a:p>
        </p:txBody>
      </p:sp>
      <p:sp>
        <p:nvSpPr>
          <p:cNvPr id="2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63B98FE8-FAD9-44E5-A7EE-9E07DE78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52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2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Encontrar e agir continuam no mesmo contexto.</a:t>
            </a:r>
          </a:p>
        </p:txBody>
      </p:sp>
      <p:sp>
        <p:nvSpPr>
          <p:cNvPr id="3" name="action-copy">
            <a:extLst xmlns:a="http://schemas.openxmlformats.org/drawingml/2006/main">
              <a:ext uri="{FF2B5EF4-FFF2-40B4-BE49-F238E27FC236}">
                <a16:creationId xmlns:a16="http://schemas.microsoft.com/office/drawing/2014/main" id="{EB464366-DA66-4028-B923-4F3DF5D6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Busca por parte do nome, cinco filtros de situação e retirada com confirmação.</a:t>
            </a:r>
          </a:p>
        </p:txBody>
      </p:sp>
      <p:sp>
        <p:nvSpPr>
          <p:cNvPr id="4" name="products-backing">
            <a:extLst xmlns:a="http://schemas.openxmlformats.org/drawingml/2006/main">
              <a:ext uri="{FF2B5EF4-FFF2-40B4-BE49-F238E27FC236}">
                <a16:creationId xmlns:a16="http://schemas.microsoft.com/office/drawing/2014/main" id="{882CA275-77C6-47FB-999B-B8A52D5A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572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5c00652174c1f"/>
          <a:srcRect xmlns:a="http://schemas.openxmlformats.org/drawingml/2006/main" l="0" t="20529" r="0" b="20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724150"/>
            <a:ext cx="6343650" cy="3295650"/>
          </a:xfrm>
          <a:prstGeom xmlns:a="http://schemas.openxmlformats.org/drawingml/2006/main" prst="roundRect">
            <a:avLst>
              <a:gd name="adj" fmla="val 3468"/>
            </a:avLst>
          </a:prstGeom>
        </p:spPr>
      </p:pic>
      <p:sp>
        <p:nvSpPr>
          <p:cNvPr id="6" name="details-backing">
            <a:extLst xmlns:a="http://schemas.openxmlformats.org/drawingml/2006/main">
              <a:ext uri="{FF2B5EF4-FFF2-40B4-BE49-F238E27FC236}">
                <a16:creationId xmlns:a16="http://schemas.microsoft.com/office/drawing/2014/main" id="{AFFBCC42-8F55-461A-BC49-7D4239FB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09850"/>
            <a:ext cx="4095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a52591ce84e09"/>
          <a:srcRect xmlns:a="http://schemas.openxmlformats.org/drawingml/2006/main" l="16978" t="0" r="169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2724150"/>
            <a:ext cx="3867150" cy="3295650"/>
          </a:xfrm>
          <a:prstGeom xmlns:a="http://schemas.openxmlformats.org/drawingml/2006/main" prst="roundRect">
            <a:avLst>
              <a:gd name="adj" fmla="val 3468"/>
            </a:avLst>
          </a:prstGeom>
        </p:spPr>
      </p:pic>
      <p:sp>
        <p:nvSpPr>
          <p:cNvPr id="8" name="footer-5">
            <a:extLst xmlns:a="http://schemas.openxmlformats.org/drawingml/2006/main">
              <a:ext uri="{FF2B5EF4-FFF2-40B4-BE49-F238E27FC236}">
                <a16:creationId xmlns:a16="http://schemas.microsoft.com/office/drawing/2014/main" id="{54A01427-E106-421E-BB02-A01081FB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5447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Evidência de conclusão">
            <a:extLst xmlns:a="http://schemas.openxmlformats.org/drawingml/2006/main">
              <a:ext uri="{FF2B5EF4-FFF2-40B4-BE49-F238E27FC236}">
                <a16:creationId xmlns:a16="http://schemas.microsoft.com/office/drawing/2014/main" id="{C820D68C-0AB3-41FA-A610-E06BBB5B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EVIDÊNCIA DE CONCLUSÃO</a:t>
            </a:r>
          </a:p>
        </p:txBody>
      </p:sp>
      <p:sp>
        <p:nvSpPr>
          <p:cNvPr id="2" name="proof-title">
            <a:extLst xmlns:a="http://schemas.openxmlformats.org/drawingml/2006/main">
              <a:ext uri="{FF2B5EF4-FFF2-40B4-BE49-F238E27FC236}">
                <a16:creationId xmlns:a16="http://schemas.microsoft.com/office/drawing/2014/main" id="{BEDC1EBF-5C08-469A-B933-1F71BBF4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52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18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O MVP fecha com comportamento comprovado.</a:t>
            </a:r>
          </a:p>
        </p:txBody>
      </p:sp>
      <p:sp>
        <p:nvSpPr>
          <p:cNvPr id="3" name="proof-copy">
            <a:extLst xmlns:a="http://schemas.openxmlformats.org/drawingml/2006/main">
              <a:ext uri="{FF2B5EF4-FFF2-40B4-BE49-F238E27FC236}">
                <a16:creationId xmlns:a16="http://schemas.microsoft.com/office/drawing/2014/main" id="{FFE72305-6A70-490A-BA07-D6D18B4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Regras de negócio, experiência responsiva e fluxo publicado são exercitados em camadas complementares.</a:t>
            </a:r>
          </a:p>
        </p:txBody>
      </p:sp>
      <p:sp>
        <p:nvSpPr>
          <p:cNvPr id="4" name="stat-box-0">
            <a:extLst xmlns:a="http://schemas.openxmlformats.org/drawingml/2006/main">
              <a:ext uri="{FF2B5EF4-FFF2-40B4-BE49-F238E27FC236}">
                <a16:creationId xmlns:a16="http://schemas.microsoft.com/office/drawing/2014/main" id="{5059E888-F36F-4EC6-9AD0-59F95DD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5" name="stat-value-0">
            <a:extLst xmlns:a="http://schemas.openxmlformats.org/drawingml/2006/main">
              <a:ext uri="{FF2B5EF4-FFF2-40B4-BE49-F238E27FC236}">
                <a16:creationId xmlns:a16="http://schemas.microsoft.com/office/drawing/2014/main" id="{18DF59F2-7808-4352-A7AF-60AD7E8E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52A682F3-1FEE-4AF0-A7E9-3297F872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histórias de usuário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HU01–HU05 auditadas</a:t>
            </a:r>
          </a:p>
        </p:txBody>
      </p:sp>
      <p:sp>
        <p:nvSpPr>
          <p:cNvPr id="7" name="stat-box-1">
            <a:extLst xmlns:a="http://schemas.openxmlformats.org/drawingml/2006/main">
              <a:ext uri="{FF2B5EF4-FFF2-40B4-BE49-F238E27FC236}">
                <a16:creationId xmlns:a16="http://schemas.microsoft.com/office/drawing/2014/main" id="{A5D98BFD-18C2-4E05-A49F-7E774A9B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9525">
            <a:solidFill>
              <a:srgbClr val="173B63"/>
            </a:solidFill>
            <a:prstDash val="solid"/>
          </a:ln>
        </p:spPr>
      </p:sp>
      <p:sp>
        <p:nvSpPr>
          <p:cNvPr id="8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E757AF62-1694-4B2A-ADF5-FEA12161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D2BC0042-7A38-466E-906A-8FB4B8E6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viewports validados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desktop, tablet e celular</a:t>
            </a:r>
          </a:p>
        </p:txBody>
      </p:sp>
      <p:sp>
        <p:nvSpPr>
          <p:cNvPr id="10" name="stat-box-2">
            <a:extLst xmlns:a="http://schemas.openxmlformats.org/drawingml/2006/main">
              <a:ext uri="{FF2B5EF4-FFF2-40B4-BE49-F238E27FC236}">
                <a16:creationId xmlns:a16="http://schemas.microsoft.com/office/drawing/2014/main" id="{7E78A422-BC81-439D-9AC4-F20CCB0B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sp>
        <p:nvSpPr>
          <p:cNvPr id="11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4398AA2B-AF36-474A-8D11-50643E07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65 + 53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22981F63-7BAF-43AF-AAAF-CB76A1C4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testes de backend e frontend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na validação de fechamento</a:t>
            </a:r>
          </a:p>
        </p:txBody>
      </p:sp>
      <p:sp>
        <p:nvSpPr>
          <p:cNvPr id="13" name="proof-footnote">
            <a:extLst xmlns:a="http://schemas.openxmlformats.org/drawingml/2006/main">
              <a:ext uri="{FF2B5EF4-FFF2-40B4-BE49-F238E27FC236}">
                <a16:creationId xmlns:a16="http://schemas.microsoft.com/office/drawing/2014/main" id="{97B96264-23F2-4411-A56E-B54FE3AF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Playwright: 4 cenários aprovados; 2 skips intencionais mantêm a massa compartilhada determinística.</a:t>
            </a:r>
          </a:p>
        </p:txBody>
      </p:sp>
      <p:sp>
        <p:nvSpPr>
          <p:cNvPr id="14" name="footer-6">
            <a:extLst xmlns:a="http://schemas.openxmlformats.org/drawingml/2006/main">
              <a:ext uri="{FF2B5EF4-FFF2-40B4-BE49-F238E27FC236}">
                <a16:creationId xmlns:a16="http://schemas.microsoft.com/office/drawing/2014/main" id="{C00F3995-55F1-47CF-A452-CFD257F6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1003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Demonstração publicada">
            <a:extLst xmlns:a="http://schemas.openxmlformats.org/drawingml/2006/main">
              <a:ext uri="{FF2B5EF4-FFF2-40B4-BE49-F238E27FC236}">
                <a16:creationId xmlns:a16="http://schemas.microsoft.com/office/drawing/2014/main" id="{26DED960-7A5A-41EE-9C5F-066397F2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DEMONSTRAÇÃO PUBLICADA</a:t>
            </a:r>
          </a:p>
        </p:txBody>
      </p:sp>
      <p:sp>
        <p:nvSpPr>
          <p:cNvPr id="2" name="ops-title">
            <a:extLst xmlns:a="http://schemas.openxmlformats.org/drawingml/2006/main">
              <a:ext uri="{FF2B5EF4-FFF2-40B4-BE49-F238E27FC236}">
                <a16:creationId xmlns:a16="http://schemas.microsoft.com/office/drawing/2014/main" id="{3CBCBFCA-D763-49AD-ADE7-5EEBD6DA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66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A3D"/>
                </a:solidFill>
                <a:latin typeface="Arial"/>
                <a:ea typeface="Arial"/>
                <a:cs typeface="Arial"/>
              </a:rPr>
              <a:t>Disponível para avaliação, com limites explícitos.</a:t>
            </a:r>
          </a:p>
        </p:txBody>
      </p:sp>
      <p:sp>
        <p:nvSpPr>
          <p:cNvPr id="3" name="ops-image-backing">
            <a:extLst xmlns:a="http://schemas.openxmlformats.org/drawingml/2006/main">
              <a:ext uri="{FF2B5EF4-FFF2-40B4-BE49-F238E27FC236}">
                <a16:creationId xmlns:a16="http://schemas.microsoft.com/office/drawing/2014/main" id="{EBFA3433-859B-42CD-89E5-899EFF05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5E0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7fe5a1e37443f"/>
          <a:srcRect xmlns:a="http://schemas.openxmlformats.org/drawingml/2006/main" l="10815" t="0" r="108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152650"/>
            <a:ext cx="4724400" cy="339090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5" name="ops-available-title">
            <a:extLst xmlns:a="http://schemas.openxmlformats.org/drawingml/2006/main">
              <a:ext uri="{FF2B5EF4-FFF2-40B4-BE49-F238E27FC236}">
                <a16:creationId xmlns:a16="http://schemas.microsoft.com/office/drawing/2014/main" id="{630CF5C9-4C13-4A12-B3C0-8F3D56E3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O que está publicado</a:t>
            </a:r>
          </a:p>
        </p:txBody>
      </p:sp>
      <p:sp>
        <p:nvSpPr>
          <p:cNvPr id="6" name="ops-available">
            <a:extLst xmlns:a="http://schemas.openxmlformats.org/drawingml/2006/main">
              <a:ext uri="{FF2B5EF4-FFF2-40B4-BE49-F238E27FC236}">
                <a16:creationId xmlns:a16="http://schemas.microsoft.com/office/drawing/2014/main" id="{4956F952-59A3-4BC1-BD26-3620A93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A3D"/>
                </a:solidFill>
                <a:latin typeface="Arial"/>
                <a:ea typeface="Arial"/>
                <a:cs typeface="Arial"/>
              </a:rPr>
              <a:t>• HTTPS e healthcheck público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A3D"/>
                </a:solidFill>
                <a:latin typeface="Arial"/>
                <a:ea typeface="Arial"/>
                <a:cs typeface="Arial"/>
              </a:rPr>
              <a:t>• Dados exclusivamente sintéticos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A3D"/>
                </a:solidFill>
                <a:latin typeface="Arial"/>
                <a:ea typeface="Arial"/>
                <a:cs typeface="Arial"/>
              </a:rPr>
              <a:t>• Restauração automática após 24 horas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42A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A3D"/>
                </a:solidFill>
                <a:latin typeface="Arial"/>
                <a:ea typeface="Arial"/>
                <a:cs typeface="Arial"/>
              </a:rPr>
              <a:t>• Cold start observado em 14,88 s</a:t>
            </a:r>
          </a:p>
        </p:txBody>
      </p:sp>
      <p:sp>
        <p:nvSpPr>
          <p:cNvPr id="7" name="ops-limit-title">
            <a:extLst xmlns:a="http://schemas.openxmlformats.org/drawingml/2006/main">
              <a:ext uri="{FF2B5EF4-FFF2-40B4-BE49-F238E27FC236}">
                <a16:creationId xmlns:a16="http://schemas.microsoft.com/office/drawing/2014/main" id="{F6AF6B8F-E5AF-4099-A1F2-0FD89045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Decisão atual</a:t>
            </a:r>
          </a:p>
        </p:txBody>
      </p:sp>
      <p:sp>
        <p:nvSpPr>
          <p:cNvPr id="8" name="ops-limit">
            <a:extLst xmlns:a="http://schemas.openxmlformats.org/drawingml/2006/main">
              <a:ext uri="{FF2B5EF4-FFF2-40B4-BE49-F238E27FC236}">
                <a16:creationId xmlns:a16="http://schemas.microsoft.com/office/drawing/2014/main" id="{8F0C9014-6734-45A4-AD1D-4BE96C09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816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As credenciais permanecem privadas e não são publicadas no repositório. O endereço demonstra a entrega, mas o acesso autenticado depende de autorização.</a:t>
            </a:r>
          </a:p>
        </p:txBody>
      </p:sp>
      <p:sp>
        <p:nvSpPr>
          <p:cNvPr id="9" name="footer-7">
            <a:extLst xmlns:a="http://schemas.openxmlformats.org/drawingml/2006/main">
              <a:ext uri="{FF2B5EF4-FFF2-40B4-BE49-F238E27FC236}">
                <a16:creationId xmlns:a16="http://schemas.microsoft.com/office/drawing/2014/main" id="{0FCCA1BA-7DA1-4FC2-9DEF-6CDF8DF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5420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9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brand">
            <a:extLst xmlns:a="http://schemas.openxmlformats.org/drawingml/2006/main">
              <a:ext uri="{FF2B5EF4-FFF2-40B4-BE49-F238E27FC236}">
                <a16:creationId xmlns:a16="http://schemas.microsoft.com/office/drawing/2014/main" id="{FFAFE79A-8F59-4C28-887F-7D823EDE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A43D0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3D08"/>
                </a:solidFill>
                <a:latin typeface="Arial"/>
                <a:ea typeface="Arial"/>
                <a:cs typeface="Arial"/>
              </a:rPr>
              <a:t>gestorVP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00ABE2D-8B52-481C-8A5D-9BFAC73C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estoque certo começa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pelo que vence primeiro.</a:t>
            </a:r>
          </a:p>
        </p:txBody>
      </p:sp>
      <p:sp>
        <p:nvSpPr>
          <p:cNvPr id="3" name="close-url">
            <a:extLst xmlns:a="http://schemas.openxmlformats.org/drawingml/2006/main">
              <a:ext uri="{FF2B5EF4-FFF2-40B4-BE49-F238E27FC236}">
                <a16:creationId xmlns:a16="http://schemas.microsoft.com/office/drawing/2014/main" id="{78423E1C-1CF6-4682-AE46-5B6D8C77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gestor-vp-production.up.railway.app</a:t>
            </a:r>
          </a:p>
        </p:txBody>
      </p:sp>
      <p:sp>
        <p:nvSpPr>
          <p:cNvPr id="4" name="close-repo">
            <a:extLst xmlns:a="http://schemas.openxmlformats.org/drawingml/2006/main">
              <a:ext uri="{FF2B5EF4-FFF2-40B4-BE49-F238E27FC236}">
                <a16:creationId xmlns:a16="http://schemas.microsoft.com/office/drawing/2014/main" id="{0D85FD89-F069-4A14-BFD8-0FE0EB2B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FD0E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D0E0"/>
                </a:solidFill>
                <a:latin typeface="Arial"/>
                <a:ea typeface="Arial"/>
                <a:cs typeface="Arial"/>
              </a:rPr>
              <a:t>github.com/vitaa1/gestor-vp</a:t>
            </a:r>
          </a:p>
        </p:txBody>
      </p:sp>
    </p:spTree>
    <p:extLst>
      <p:ext uri="{BB962C8B-B14F-4D97-AF65-F5344CB8AC3E}">
        <p14:creationId xmlns:p14="http://schemas.microsoft.com/office/powerpoint/2010/main" val="1613300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2026-08-25T12:21:33.3940000Z</dcterms:created>
  <dcterms:modified xsi:type="dcterms:W3CDTF">2026-08-25T12:21:33.3940000Z</dcterms:modified>
</coreProperties>
</file>